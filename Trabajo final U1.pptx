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g3f4bdeda18_4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f4bdeda18_4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3f4bdeda18_4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f4bdeda18_4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3f4bdeda18_4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f4bdeda18_4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g3f4bdeda18_4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f4bdeda18_4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3f4bdeda18_8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4bdeda18_8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f4bdeda18_8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3f4bdeda18_18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4bdeda18_18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f4bdeda18_18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7" name="Shape 167"/>
        <p:cNvGrpSpPr/>
        <p:nvPr/>
      </p:nvGrpSpPr>
      <p:grpSpPr>
        <a:xfrm>
          <a:off x="0" y="0"/>
          <a:ext cx="0" cy="0"/>
          <a:chOff x="0" y="0"/>
          <a:chExt cx="0" cy="0"/>
        </a:xfrm>
      </p:grpSpPr>
      <p:sp>
        <p:nvSpPr>
          <p:cNvPr id="168" name="Google Shape;168;g3f4bdeda18_18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4bdeda18_18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f4bdeda18_18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7" name="Shape 187"/>
        <p:cNvGrpSpPr/>
        <p:nvPr/>
      </p:nvGrpSpPr>
      <p:grpSpPr>
        <a:xfrm>
          <a:off x="0" y="0"/>
          <a:ext cx="0" cy="0"/>
          <a:chOff x="0" y="0"/>
          <a:chExt cx="0" cy="0"/>
        </a:xfrm>
      </p:grpSpPr>
      <p:sp>
        <p:nvSpPr>
          <p:cNvPr id="188" name="Google Shape;188;g3f4bdeda18_5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f4bdeda18_5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4" name="Shape 194"/>
        <p:cNvGrpSpPr/>
        <p:nvPr/>
      </p:nvGrpSpPr>
      <p:grpSpPr>
        <a:xfrm>
          <a:off x="0" y="0"/>
          <a:ext cx="0" cy="0"/>
          <a:chOff x="0" y="0"/>
          <a:chExt cx="0" cy="0"/>
        </a:xfrm>
      </p:grpSpPr>
      <p:sp>
        <p:nvSpPr>
          <p:cNvPr id="195" name="Google Shape;195;g3f4bdeda18_5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4bdeda18_5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f4bdeda18_5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g3f4bdeda18_5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4bdeda18_5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f4bdeda18_5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3f4bdeda18_5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4bdeda18_5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f4bdeda18_5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g3f4bdeda18_5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4bdeda18_5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f4bdeda18_5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g3f4bdeda18_5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4bdeda18_5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f4bdeda18_5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5" name="Shape 235"/>
        <p:cNvGrpSpPr/>
        <p:nvPr/>
      </p:nvGrpSpPr>
      <p:grpSpPr>
        <a:xfrm>
          <a:off x="0" y="0"/>
          <a:ext cx="0" cy="0"/>
          <a:chOff x="0" y="0"/>
          <a:chExt cx="0" cy="0"/>
        </a:xfrm>
      </p:grpSpPr>
      <p:sp>
        <p:nvSpPr>
          <p:cNvPr id="236" name="Google Shape;236;g3f4bdeda18_5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f4bdeda18_5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f4bdeda18_5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P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3" name="Shape 243"/>
        <p:cNvGrpSpPr/>
        <p:nvPr/>
      </p:nvGrpSpPr>
      <p:grpSpPr>
        <a:xfrm>
          <a:off x="0" y="0"/>
          <a:ext cx="0" cy="0"/>
          <a:chOff x="0" y="0"/>
          <a:chExt cx="0" cy="0"/>
        </a:xfrm>
      </p:grpSpPr>
      <p:sp>
        <p:nvSpPr>
          <p:cNvPr id="244" name="Google Shape;24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objetos"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cabezado de sección"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os objetos"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ació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olo el títu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 blanco"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ido con título"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agen con título"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1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Google Shape;88;p13"/>
          <p:cNvSpPr txBox="1"/>
          <p:nvPr/>
        </p:nvSpPr>
        <p:spPr>
          <a:xfrm>
            <a:off x="3212046" y="2526366"/>
            <a:ext cx="7322819" cy="7694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s-PE" sz="4400" u="none" cap="none" strike="noStrike">
                <a:solidFill>
                  <a:schemeClr val="dk1"/>
                </a:solidFill>
                <a:latin typeface="Arial"/>
                <a:ea typeface="Arial"/>
                <a:cs typeface="Arial"/>
                <a:sym typeface="Arial"/>
              </a:rPr>
              <a:t>Trabajo Final Unidad 1</a:t>
            </a:r>
            <a:endParaRPr b="1" sz="4400">
              <a:solidFill>
                <a:schemeClr val="dk1"/>
              </a:solidFill>
              <a:latin typeface="Arial"/>
              <a:ea typeface="Arial"/>
              <a:cs typeface="Arial"/>
              <a:sym typeface="Arial"/>
            </a:endParaRPr>
          </a:p>
        </p:txBody>
      </p:sp>
      <p:sp>
        <p:nvSpPr>
          <p:cNvPr id="89" name="Google Shape;89;p13"/>
          <p:cNvSpPr txBox="1"/>
          <p:nvPr/>
        </p:nvSpPr>
        <p:spPr>
          <a:xfrm>
            <a:off x="2054087" y="3249640"/>
            <a:ext cx="8480778" cy="10772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s-PE" sz="3200">
                <a:solidFill>
                  <a:srgbClr val="757070"/>
                </a:solidFill>
                <a:latin typeface="Arial"/>
                <a:ea typeface="Arial"/>
                <a:cs typeface="Arial"/>
                <a:sym typeface="Arial"/>
              </a:rPr>
              <a:t>Desarrollo de problemas en ASP.NET con patrón de arquitectura de software MVC</a:t>
            </a:r>
            <a:endParaRPr sz="3200">
              <a:solidFill>
                <a:srgbClr val="757070"/>
              </a:solidFill>
              <a:latin typeface="Arial"/>
              <a:ea typeface="Arial"/>
              <a:cs typeface="Arial"/>
              <a:sym typeface="Arial"/>
            </a:endParaRPr>
          </a:p>
        </p:txBody>
      </p:sp>
      <p:sp>
        <p:nvSpPr>
          <p:cNvPr id="90" name="Google Shape;90;p13"/>
          <p:cNvSpPr txBox="1"/>
          <p:nvPr/>
        </p:nvSpPr>
        <p:spPr>
          <a:xfrm>
            <a:off x="265043" y="6433554"/>
            <a:ext cx="11701670"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PE" sz="1400">
                <a:solidFill>
                  <a:srgbClr val="757070"/>
                </a:solidFill>
                <a:latin typeface="Arial"/>
                <a:ea typeface="Arial"/>
                <a:cs typeface="Arial"/>
                <a:sym typeface="Arial"/>
              </a:rPr>
              <a:t>Integrantes: Renzo Moreno, Gary Calle, Christian Céspedes, Aldo López	 - Curso: Desarrollo de aplicaciones web II - Docente: Ing. Enrique Lanchipa</a:t>
            </a:r>
            <a:endParaRPr sz="1400">
              <a:solidFill>
                <a:srgbClr val="75707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sp>
        <p:nvSpPr>
          <p:cNvPr id="95" name="Google Shape;95;p14"/>
          <p:cNvSpPr txBox="1"/>
          <p:nvPr/>
        </p:nvSpPr>
        <p:spPr>
          <a:xfrm>
            <a:off x="951853" y="1251998"/>
            <a:ext cx="10741297" cy="1384995"/>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chemeClr val="dk1"/>
              </a:buClr>
              <a:buSzPts val="2800"/>
              <a:buFont typeface="Arial"/>
              <a:buAutoNum type="arabicPeriod"/>
            </a:pPr>
            <a:r>
              <a:rPr b="1" lang="es-PE" sz="2800">
                <a:solidFill>
                  <a:schemeClr val="dk1"/>
                </a:solidFill>
                <a:latin typeface="Arial"/>
                <a:ea typeface="Arial"/>
                <a:cs typeface="Arial"/>
                <a:sym typeface="Arial"/>
              </a:rPr>
              <a:t>Elaborar un programa que permita sortear los grupos de concurso de proyectos. el programa debe permitir. </a:t>
            </a:r>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p:txBody>
      </p:sp>
      <p:sp>
        <p:nvSpPr>
          <p:cNvPr id="96" name="Google Shape;96;p14"/>
          <p:cNvSpPr/>
          <p:nvPr/>
        </p:nvSpPr>
        <p:spPr>
          <a:xfrm>
            <a:off x="1457739" y="2977203"/>
            <a:ext cx="10018643" cy="2308324"/>
          </a:xfrm>
          <a:prstGeom prst="rect">
            <a:avLst/>
          </a:prstGeom>
          <a:noFill/>
          <a:ln>
            <a:noFill/>
          </a:ln>
        </p:spPr>
        <p:txBody>
          <a:bodyPr anchorCtr="0" anchor="t" bIns="45700" lIns="91425" spcFirstLastPara="1" rIns="91425" wrap="square" tIns="45700">
            <a:noAutofit/>
          </a:bodyPr>
          <a:lstStyle/>
          <a:p>
            <a:pPr indent="-374650" lvl="0" marL="457200" marR="0" rtl="0" algn="l">
              <a:spcBef>
                <a:spcPts val="0"/>
              </a:spcBef>
              <a:spcAft>
                <a:spcPts val="0"/>
              </a:spcAft>
              <a:buClr>
                <a:schemeClr val="dk1"/>
              </a:buClr>
              <a:buSzPts val="2300"/>
              <a:buFont typeface="Arial"/>
              <a:buAutoNum type="arabicPeriod"/>
            </a:pPr>
            <a:r>
              <a:rPr lang="es-PE" sz="2300">
                <a:solidFill>
                  <a:schemeClr val="dk1"/>
                </a:solidFill>
                <a:latin typeface="Arial"/>
                <a:ea typeface="Arial"/>
                <a:cs typeface="Arial"/>
                <a:sym typeface="Arial"/>
              </a:rPr>
              <a:t>Registrar las categorías del concurso de proyectos </a:t>
            </a:r>
            <a:endParaRPr sz="2300"/>
          </a:p>
          <a:p>
            <a:pPr indent="0" lvl="0" marL="0" marR="0" rtl="0" algn="l">
              <a:spcBef>
                <a:spcPts val="0"/>
              </a:spcBef>
              <a:spcAft>
                <a:spcPts val="0"/>
              </a:spcAft>
              <a:buNone/>
            </a:pPr>
            <a:r>
              <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s-PE" sz="2300">
                <a:solidFill>
                  <a:schemeClr val="dk1"/>
                </a:solidFill>
              </a:rPr>
              <a:t>2.   </a:t>
            </a:r>
            <a:r>
              <a:rPr lang="es-PE" sz="2300">
                <a:solidFill>
                  <a:schemeClr val="dk1"/>
                </a:solidFill>
                <a:latin typeface="Arial"/>
                <a:ea typeface="Arial"/>
                <a:cs typeface="Arial"/>
                <a:sym typeface="Arial"/>
              </a:rPr>
              <a:t>Registrar los temas, integrantes de del grupo, curso y docente  asesor.</a:t>
            </a:r>
            <a:endParaRPr sz="2300"/>
          </a:p>
          <a:p>
            <a:pPr indent="0" lvl="0" marL="0" marR="0" rtl="0" algn="l">
              <a:spcBef>
                <a:spcPts val="0"/>
              </a:spcBef>
              <a:spcAft>
                <a:spcPts val="0"/>
              </a:spcAft>
              <a:buNone/>
            </a:pPr>
            <a:r>
              <a:rPr lang="es-PE" sz="2300">
                <a:solidFill>
                  <a:schemeClr val="dk1"/>
                </a:solidFill>
                <a:latin typeface="Arial"/>
                <a:ea typeface="Arial"/>
                <a:cs typeface="Arial"/>
                <a:sym typeface="Arial"/>
              </a:rPr>
              <a:t> </a:t>
            </a:r>
            <a:endParaRPr sz="2300"/>
          </a:p>
          <a:p>
            <a:pPr indent="-450850" lvl="0" marL="450850" marR="0" rtl="0" algn="l">
              <a:spcBef>
                <a:spcPts val="0"/>
              </a:spcBef>
              <a:spcAft>
                <a:spcPts val="0"/>
              </a:spcAft>
              <a:buNone/>
            </a:pPr>
            <a:r>
              <a:rPr lang="es-PE" sz="2300">
                <a:solidFill>
                  <a:schemeClr val="dk1"/>
                </a:solidFill>
              </a:rPr>
              <a:t>3.   </a:t>
            </a:r>
            <a:r>
              <a:rPr lang="es-PE" sz="2300">
                <a:solidFill>
                  <a:schemeClr val="dk1"/>
                </a:solidFill>
                <a:latin typeface="Arial"/>
                <a:ea typeface="Arial"/>
                <a:cs typeface="Arial"/>
                <a:sym typeface="Arial"/>
              </a:rPr>
              <a:t>Sortear el orden de exposición por categoría tener en cuenta que el  orden no debe repetirse entre los grupos de cada categoría. </a:t>
            </a:r>
            <a:endParaRPr b="1" sz="23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15"/>
          <p:cNvSpPr txBox="1"/>
          <p:nvPr/>
        </p:nvSpPr>
        <p:spPr>
          <a:xfrm>
            <a:off x="1273525" y="495175"/>
            <a:ext cx="9929700" cy="1219200"/>
          </a:xfrm>
          <a:prstGeom prst="rect">
            <a:avLst/>
          </a:prstGeom>
          <a:noFill/>
          <a:ln>
            <a:noFill/>
          </a:ln>
        </p:spPr>
        <p:txBody>
          <a:bodyPr anchorCtr="0" anchor="ctr" bIns="91425" lIns="91425" spcFirstLastPara="1" rIns="91425" wrap="square" tIns="91425">
            <a:noAutofit/>
          </a:bodyPr>
          <a:lstStyle/>
          <a:p>
            <a:pPr indent="0" lvl="0" marL="0" rtl="0" algn="just">
              <a:lnSpc>
                <a:spcPct val="150000"/>
              </a:lnSpc>
              <a:spcBef>
                <a:spcPts val="0"/>
              </a:spcBef>
              <a:spcAft>
                <a:spcPts val="0"/>
              </a:spcAft>
              <a:buNone/>
            </a:pPr>
            <a:r>
              <a:rPr lang="es-PE" sz="1800">
                <a:solidFill>
                  <a:schemeClr val="dk1"/>
                </a:solidFill>
              </a:rPr>
              <a:t>Para desarrollar este programa se implementó un clase en la carpeta Models llamada “ ClsConsursoProyectos.cs” </a:t>
            </a:r>
            <a:endParaRPr sz="1800"/>
          </a:p>
        </p:txBody>
      </p:sp>
      <p:pic>
        <p:nvPicPr>
          <p:cNvPr id="102" name="Google Shape;102;p15"/>
          <p:cNvPicPr preferRelativeResize="0"/>
          <p:nvPr/>
        </p:nvPicPr>
        <p:blipFill>
          <a:blip r:embed="rId3">
            <a:alphaModFix/>
          </a:blip>
          <a:stretch>
            <a:fillRect/>
          </a:stretch>
        </p:blipFill>
        <p:spPr>
          <a:xfrm>
            <a:off x="2353250" y="1854400"/>
            <a:ext cx="7485500" cy="4198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16"/>
          <p:cNvSpPr txBox="1"/>
          <p:nvPr/>
        </p:nvSpPr>
        <p:spPr>
          <a:xfrm>
            <a:off x="809300" y="569450"/>
            <a:ext cx="10443300" cy="12192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PE" sz="1700">
                <a:solidFill>
                  <a:schemeClr val="dk1"/>
                </a:solidFill>
              </a:rPr>
              <a:t>Se implementó un controlador en la carpeta Controllers, llamado “ConcursoProyectosController.cs” en el cual se implementó el “ActionResult agregar” para agregar los datos a la tabla y el  “ActionResult sortear” para realizar un sorteo aleatorio de los datos ingresados.</a:t>
            </a:r>
            <a:r>
              <a:rPr lang="es-PE" sz="1700">
                <a:solidFill>
                  <a:schemeClr val="dk1"/>
                </a:solidFill>
              </a:rPr>
              <a:t> </a:t>
            </a:r>
            <a:endParaRPr sz="1700"/>
          </a:p>
        </p:txBody>
      </p:sp>
      <p:pic>
        <p:nvPicPr>
          <p:cNvPr id="108" name="Google Shape;108;p16"/>
          <p:cNvPicPr preferRelativeResize="0"/>
          <p:nvPr/>
        </p:nvPicPr>
        <p:blipFill>
          <a:blip r:embed="rId3">
            <a:alphaModFix/>
          </a:blip>
          <a:stretch>
            <a:fillRect/>
          </a:stretch>
        </p:blipFill>
        <p:spPr>
          <a:xfrm>
            <a:off x="2417750" y="1945955"/>
            <a:ext cx="7819450" cy="4385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17"/>
          <p:cNvSpPr txBox="1"/>
          <p:nvPr/>
        </p:nvSpPr>
        <p:spPr>
          <a:xfrm>
            <a:off x="809300" y="569450"/>
            <a:ext cx="10443300" cy="12192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PE" sz="1800">
                <a:solidFill>
                  <a:schemeClr val="dk1"/>
                </a:solidFill>
              </a:rPr>
              <a:t>Se implementó el Framework </a:t>
            </a:r>
            <a:r>
              <a:rPr lang="es-PE" sz="1800">
                <a:solidFill>
                  <a:schemeClr val="dk1"/>
                </a:solidFill>
                <a:highlight>
                  <a:srgbClr val="FFFFFF"/>
                </a:highlight>
              </a:rPr>
              <a:t>Bootstrap en su versión 3.7</a:t>
            </a:r>
            <a:r>
              <a:rPr lang="es-PE" sz="1800">
                <a:solidFill>
                  <a:srgbClr val="333333"/>
                </a:solidFill>
                <a:highlight>
                  <a:srgbClr val="FFFFFF"/>
                </a:highlight>
              </a:rPr>
              <a:t>. </a:t>
            </a:r>
            <a:r>
              <a:rPr lang="es-PE" sz="1800">
                <a:solidFill>
                  <a:schemeClr val="dk1"/>
                </a:solidFill>
                <a:highlight>
                  <a:srgbClr val="FFFFFF"/>
                </a:highlight>
              </a:rPr>
              <a:t>Se muestra en la imagen la </a:t>
            </a:r>
            <a:r>
              <a:rPr lang="es-PE" sz="1800">
                <a:solidFill>
                  <a:schemeClr val="dk1"/>
                </a:solidFill>
              </a:rPr>
              <a:t>Estructura de la solución implementada</a:t>
            </a:r>
            <a:r>
              <a:rPr lang="es-PE" sz="1800">
                <a:solidFill>
                  <a:schemeClr val="dk1"/>
                </a:solidFill>
              </a:rPr>
              <a:t>. </a:t>
            </a:r>
            <a:endParaRPr sz="1800"/>
          </a:p>
        </p:txBody>
      </p:sp>
      <p:pic>
        <p:nvPicPr>
          <p:cNvPr id="114" name="Google Shape;114;p17"/>
          <p:cNvPicPr preferRelativeResize="0"/>
          <p:nvPr/>
        </p:nvPicPr>
        <p:blipFill>
          <a:blip r:embed="rId3">
            <a:alphaModFix/>
          </a:blip>
          <a:stretch>
            <a:fillRect/>
          </a:stretch>
        </p:blipFill>
        <p:spPr>
          <a:xfrm>
            <a:off x="2133050" y="1681075"/>
            <a:ext cx="8033575" cy="4502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18"/>
          <p:cNvSpPr txBox="1"/>
          <p:nvPr/>
        </p:nvSpPr>
        <p:spPr>
          <a:xfrm>
            <a:off x="809300" y="569450"/>
            <a:ext cx="10443300" cy="12192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PE" sz="1800">
                <a:solidFill>
                  <a:schemeClr val="dk1"/>
                </a:solidFill>
              </a:rPr>
              <a:t>Se implementó una vista con el nombre de “IndexConcursoProyectos.cshtml” en la carpeta Views/ConcursoProyectos, donde se muestran los resultados</a:t>
            </a:r>
            <a:r>
              <a:rPr lang="es-PE" sz="1800">
                <a:solidFill>
                  <a:schemeClr val="dk1"/>
                </a:solidFill>
              </a:rPr>
              <a:t>. </a:t>
            </a:r>
            <a:endParaRPr sz="1800"/>
          </a:p>
        </p:txBody>
      </p:sp>
      <p:pic>
        <p:nvPicPr>
          <p:cNvPr id="120" name="Google Shape;120;p18"/>
          <p:cNvPicPr preferRelativeResize="0"/>
          <p:nvPr/>
        </p:nvPicPr>
        <p:blipFill>
          <a:blip r:embed="rId3">
            <a:alphaModFix/>
          </a:blip>
          <a:stretch>
            <a:fillRect/>
          </a:stretch>
        </p:blipFill>
        <p:spPr>
          <a:xfrm>
            <a:off x="2368250" y="1788650"/>
            <a:ext cx="7759100" cy="4345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19"/>
          <p:cNvSpPr txBox="1"/>
          <p:nvPr/>
        </p:nvSpPr>
        <p:spPr>
          <a:xfrm>
            <a:off x="809313" y="400000"/>
            <a:ext cx="10443300" cy="12192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PE" sz="1800">
                <a:solidFill>
                  <a:schemeClr val="dk1"/>
                </a:solidFill>
              </a:rPr>
              <a:t>Podemos visualizar los datos ingresados</a:t>
            </a:r>
            <a:r>
              <a:rPr lang="es-PE" sz="1800">
                <a:solidFill>
                  <a:schemeClr val="dk1"/>
                </a:solidFill>
              </a:rPr>
              <a:t>. </a:t>
            </a:r>
            <a:endParaRPr sz="1800"/>
          </a:p>
        </p:txBody>
      </p:sp>
      <p:pic>
        <p:nvPicPr>
          <p:cNvPr id="126" name="Google Shape;126;p19"/>
          <p:cNvPicPr preferRelativeResize="0"/>
          <p:nvPr/>
        </p:nvPicPr>
        <p:blipFill>
          <a:blip r:embed="rId3">
            <a:alphaModFix/>
          </a:blip>
          <a:stretch>
            <a:fillRect/>
          </a:stretch>
        </p:blipFill>
        <p:spPr>
          <a:xfrm>
            <a:off x="2174938" y="1619200"/>
            <a:ext cx="7712025" cy="4328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20"/>
          <p:cNvSpPr txBox="1"/>
          <p:nvPr/>
        </p:nvSpPr>
        <p:spPr>
          <a:xfrm>
            <a:off x="951853" y="1251998"/>
            <a:ext cx="10741297" cy="1384995"/>
          </a:xfrm>
          <a:prstGeom prst="rect">
            <a:avLst/>
          </a:prstGeom>
          <a:noFill/>
          <a:ln>
            <a:noFill/>
          </a:ln>
        </p:spPr>
        <p:txBody>
          <a:bodyPr anchorCtr="0" anchor="t" bIns="45700" lIns="91425" spcFirstLastPara="1" rIns="91425" wrap="square" tIns="45700">
            <a:noAutofit/>
          </a:bodyPr>
          <a:lstStyle/>
          <a:p>
            <a:pPr indent="-444500" lvl="0" marL="444500" marR="0" rtl="0" algn="l">
              <a:spcBef>
                <a:spcPts val="0"/>
              </a:spcBef>
              <a:spcAft>
                <a:spcPts val="0"/>
              </a:spcAft>
              <a:buNone/>
            </a:pPr>
            <a:r>
              <a:rPr b="1" lang="es-PE" sz="2800">
                <a:solidFill>
                  <a:schemeClr val="dk1"/>
                </a:solidFill>
                <a:latin typeface="Arial"/>
                <a:ea typeface="Arial"/>
                <a:cs typeface="Arial"/>
                <a:sym typeface="Arial"/>
              </a:rPr>
              <a:t>2. Elaborar un programa que permita procesar demostrar gran  cantidad de registros ejemplo (10,000 o 100,000). Lo que se busca es disminuir el tiempo procesamiento</a:t>
            </a:r>
            <a:endParaRPr/>
          </a:p>
        </p:txBody>
      </p:sp>
      <p:sp>
        <p:nvSpPr>
          <p:cNvPr id="132" name="Google Shape;132;p20"/>
          <p:cNvSpPr/>
          <p:nvPr/>
        </p:nvSpPr>
        <p:spPr>
          <a:xfrm>
            <a:off x="1313179" y="3290712"/>
            <a:ext cx="10018643" cy="2308324"/>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mo"/>
              <a:buChar char="a"/>
            </a:pPr>
            <a:r>
              <a:rPr lang="es-PE" sz="2400">
                <a:solidFill>
                  <a:schemeClr val="dk1"/>
                </a:solidFill>
                <a:latin typeface="Calibri"/>
                <a:ea typeface="Calibri"/>
                <a:cs typeface="Calibri"/>
                <a:sym typeface="Calibri"/>
              </a:rPr>
              <a:t>Se debe poder utilizar 1 varios núcleos del procesador</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457200" lvl="0" marL="457200" marR="0" rtl="0" algn="l">
              <a:spcBef>
                <a:spcPts val="0"/>
              </a:spcBef>
              <a:spcAft>
                <a:spcPts val="0"/>
              </a:spcAft>
              <a:buClr>
                <a:schemeClr val="dk1"/>
              </a:buClr>
              <a:buSzPts val="2400"/>
              <a:buFont typeface="Arimo"/>
              <a:buChar char="a"/>
            </a:pPr>
            <a:r>
              <a:rPr lang="es-PE" sz="2400">
                <a:solidFill>
                  <a:schemeClr val="dk1"/>
                </a:solidFill>
                <a:latin typeface="Calibri"/>
                <a:ea typeface="Calibri"/>
                <a:cs typeface="Calibri"/>
                <a:sym typeface="Calibri"/>
              </a:rPr>
              <a:t>Se pide utilizar algún algoritmo que permita agilizar el tiempo de búsqueda y procesamiento </a:t>
            </a:r>
            <a:endParaRPr/>
          </a:p>
          <a:p>
            <a:pPr indent="0" lvl="0" marL="0" marR="0" rtl="0" algn="l">
              <a:spcBef>
                <a:spcPts val="0"/>
              </a:spcBef>
              <a:spcAft>
                <a:spcPts val="0"/>
              </a:spcAft>
              <a:buNone/>
            </a:pPr>
            <a:r>
              <a:rPr lang="es-PE" sz="2400">
                <a:solidFill>
                  <a:schemeClr val="dk1"/>
                </a:solidFill>
                <a:latin typeface="Arial"/>
                <a:ea typeface="Arial"/>
                <a:cs typeface="Arial"/>
                <a:sym typeface="Arial"/>
              </a:rPr>
              <a:t> </a:t>
            </a:r>
            <a:endParaRPr/>
          </a:p>
          <a:p>
            <a:pPr indent="-450850" lvl="0" marL="450850" marR="0" rtl="0" algn="l">
              <a:spcBef>
                <a:spcPts val="0"/>
              </a:spcBef>
              <a:spcAft>
                <a:spcPts val="0"/>
              </a:spcAft>
              <a:buNone/>
            </a:pPr>
            <a:r>
              <a:rPr lang="es-PE" sz="2400">
                <a:solidFill>
                  <a:schemeClr val="dk1"/>
                </a:solidFill>
                <a:latin typeface="Arial"/>
                <a:ea typeface="Arial"/>
                <a:cs typeface="Arial"/>
                <a:sym typeface="Arial"/>
              </a:rPr>
              <a:t> </a:t>
            </a:r>
            <a:r>
              <a:rPr lang="es-PE" sz="2400">
                <a:solidFill>
                  <a:schemeClr val="dk1"/>
                </a:solidFill>
                <a:latin typeface="Calibri"/>
                <a:ea typeface="Calibri"/>
                <a:cs typeface="Calibri"/>
                <a:sym typeface="Calibri"/>
              </a:rPr>
              <a:t>Mostrar el tiempo de procesamiento de resultados </a:t>
            </a:r>
            <a:endParaRPr b="1" sz="2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pic>
        <p:nvPicPr>
          <p:cNvPr id="137" name="Google Shape;137;p21"/>
          <p:cNvPicPr preferRelativeResize="0"/>
          <p:nvPr/>
        </p:nvPicPr>
        <p:blipFill>
          <a:blip r:embed="rId3">
            <a:alphaModFix/>
          </a:blip>
          <a:stretch>
            <a:fillRect/>
          </a:stretch>
        </p:blipFill>
        <p:spPr>
          <a:xfrm>
            <a:off x="459250" y="888825"/>
            <a:ext cx="5158351" cy="3836600"/>
          </a:xfrm>
          <a:prstGeom prst="rect">
            <a:avLst/>
          </a:prstGeom>
          <a:noFill/>
          <a:ln>
            <a:noFill/>
          </a:ln>
        </p:spPr>
      </p:pic>
      <p:pic>
        <p:nvPicPr>
          <p:cNvPr id="138" name="Google Shape;138;p21"/>
          <p:cNvPicPr preferRelativeResize="0"/>
          <p:nvPr/>
        </p:nvPicPr>
        <p:blipFill rotWithShape="1">
          <a:blip r:embed="rId4">
            <a:alphaModFix/>
          </a:blip>
          <a:srcRect b="17859" l="-10860" r="10860" t="-17860"/>
          <a:stretch/>
        </p:blipFill>
        <p:spPr>
          <a:xfrm>
            <a:off x="5088350" y="-154425"/>
            <a:ext cx="6489550" cy="5294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22"/>
          <p:cNvSpPr txBox="1"/>
          <p:nvPr>
            <p:ph type="ctrTitle"/>
          </p:nvPr>
        </p:nvSpPr>
        <p:spPr>
          <a:xfrm>
            <a:off x="559050" y="226344"/>
            <a:ext cx="9590100" cy="1152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s-PE"/>
              <a:t>Tiempo de </a:t>
            </a:r>
            <a:r>
              <a:rPr lang="es-PE"/>
              <a:t>ejecución</a:t>
            </a:r>
            <a:endParaRPr/>
          </a:p>
        </p:txBody>
      </p:sp>
      <p:sp>
        <p:nvSpPr>
          <p:cNvPr id="145" name="Google Shape;145;p22"/>
          <p:cNvSpPr txBox="1"/>
          <p:nvPr>
            <p:ph idx="1" type="subTitle"/>
          </p:nvPr>
        </p:nvSpPr>
        <p:spPr>
          <a:xfrm>
            <a:off x="1524000" y="3602038"/>
            <a:ext cx="9144000" cy="16557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t/>
            </a:r>
            <a:endParaRPr/>
          </a:p>
        </p:txBody>
      </p:sp>
      <p:pic>
        <p:nvPicPr>
          <p:cNvPr id="146" name="Google Shape;146;p22"/>
          <p:cNvPicPr preferRelativeResize="0"/>
          <p:nvPr/>
        </p:nvPicPr>
        <p:blipFill>
          <a:blip r:embed="rId3">
            <a:alphaModFix/>
          </a:blip>
          <a:stretch>
            <a:fillRect/>
          </a:stretch>
        </p:blipFill>
        <p:spPr>
          <a:xfrm>
            <a:off x="198425" y="2558680"/>
            <a:ext cx="11627376" cy="3363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3"/>
          <p:cNvSpPr txBox="1"/>
          <p:nvPr/>
        </p:nvSpPr>
        <p:spPr>
          <a:xfrm>
            <a:off x="951853" y="1251998"/>
            <a:ext cx="10741297"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s-PE" sz="2800">
                <a:solidFill>
                  <a:schemeClr val="dk1"/>
                </a:solidFill>
                <a:latin typeface="Arial"/>
                <a:ea typeface="Arial"/>
                <a:cs typeface="Arial"/>
                <a:sym typeface="Arial"/>
              </a:rPr>
              <a:t>3. Movimiento Rectilíneo Uniforme Variado</a:t>
            </a:r>
            <a:endParaRPr/>
          </a:p>
        </p:txBody>
      </p:sp>
      <p:pic>
        <p:nvPicPr>
          <p:cNvPr id="152" name="Google Shape;152;p23"/>
          <p:cNvPicPr preferRelativeResize="0"/>
          <p:nvPr/>
        </p:nvPicPr>
        <p:blipFill>
          <a:blip r:embed="rId3">
            <a:alphaModFix/>
          </a:blip>
          <a:stretch>
            <a:fillRect/>
          </a:stretch>
        </p:blipFill>
        <p:spPr>
          <a:xfrm>
            <a:off x="255500" y="3108818"/>
            <a:ext cx="3933825" cy="2324100"/>
          </a:xfrm>
          <a:prstGeom prst="rect">
            <a:avLst/>
          </a:prstGeom>
          <a:noFill/>
          <a:ln>
            <a:noFill/>
          </a:ln>
        </p:spPr>
      </p:pic>
      <p:pic>
        <p:nvPicPr>
          <p:cNvPr id="153" name="Google Shape;153;p23"/>
          <p:cNvPicPr preferRelativeResize="0"/>
          <p:nvPr/>
        </p:nvPicPr>
        <p:blipFill>
          <a:blip r:embed="rId4">
            <a:alphaModFix/>
          </a:blip>
          <a:stretch>
            <a:fillRect/>
          </a:stretch>
        </p:blipFill>
        <p:spPr>
          <a:xfrm>
            <a:off x="4460275" y="2533502"/>
            <a:ext cx="7335575" cy="3474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pic>
        <p:nvPicPr>
          <p:cNvPr id="158" name="Google Shape;158;p24"/>
          <p:cNvPicPr preferRelativeResize="0"/>
          <p:nvPr/>
        </p:nvPicPr>
        <p:blipFill>
          <a:blip r:embed="rId3">
            <a:alphaModFix/>
          </a:blip>
          <a:stretch>
            <a:fillRect/>
          </a:stretch>
        </p:blipFill>
        <p:spPr>
          <a:xfrm>
            <a:off x="1544350" y="487600"/>
            <a:ext cx="9103300" cy="2889700"/>
          </a:xfrm>
          <a:prstGeom prst="rect">
            <a:avLst/>
          </a:prstGeom>
          <a:noFill/>
          <a:ln>
            <a:noFill/>
          </a:ln>
        </p:spPr>
      </p:pic>
      <p:pic>
        <p:nvPicPr>
          <p:cNvPr id="159" name="Google Shape;159;p24"/>
          <p:cNvPicPr preferRelativeResize="0"/>
          <p:nvPr/>
        </p:nvPicPr>
        <p:blipFill>
          <a:blip r:embed="rId4">
            <a:alphaModFix/>
          </a:blip>
          <a:stretch>
            <a:fillRect/>
          </a:stretch>
        </p:blipFill>
        <p:spPr>
          <a:xfrm>
            <a:off x="3357563" y="3581250"/>
            <a:ext cx="5476875" cy="2552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pic>
        <p:nvPicPr>
          <p:cNvPr id="165" name="Google Shape;165;p25"/>
          <p:cNvPicPr preferRelativeResize="0"/>
          <p:nvPr/>
        </p:nvPicPr>
        <p:blipFill rotWithShape="1">
          <a:blip r:embed="rId3">
            <a:alphaModFix/>
          </a:blip>
          <a:srcRect b="70497" l="0" r="0" t="0"/>
          <a:stretch/>
        </p:blipFill>
        <p:spPr>
          <a:xfrm>
            <a:off x="2352979" y="835325"/>
            <a:ext cx="7486050" cy="2513700"/>
          </a:xfrm>
          <a:prstGeom prst="rect">
            <a:avLst/>
          </a:prstGeom>
          <a:noFill/>
          <a:ln>
            <a:noFill/>
          </a:ln>
        </p:spPr>
      </p:pic>
      <p:pic>
        <p:nvPicPr>
          <p:cNvPr id="166" name="Google Shape;166;p25"/>
          <p:cNvPicPr preferRelativeResize="0"/>
          <p:nvPr/>
        </p:nvPicPr>
        <p:blipFill rotWithShape="1">
          <a:blip r:embed="rId3">
            <a:alphaModFix/>
          </a:blip>
          <a:srcRect b="39111" l="0" r="0" t="27838"/>
          <a:stretch/>
        </p:blipFill>
        <p:spPr>
          <a:xfrm>
            <a:off x="2617450" y="3606875"/>
            <a:ext cx="6957099" cy="26168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1" name="Shape 171"/>
        <p:cNvGrpSpPr/>
        <p:nvPr/>
      </p:nvGrpSpPr>
      <p:grpSpPr>
        <a:xfrm>
          <a:off x="0" y="0"/>
          <a:ext cx="0" cy="0"/>
          <a:chOff x="0" y="0"/>
          <a:chExt cx="0" cy="0"/>
        </a:xfrm>
      </p:grpSpPr>
      <p:pic>
        <p:nvPicPr>
          <p:cNvPr id="172" name="Google Shape;172;p26"/>
          <p:cNvPicPr preferRelativeResize="0"/>
          <p:nvPr/>
        </p:nvPicPr>
        <p:blipFill>
          <a:blip r:embed="rId3">
            <a:alphaModFix/>
          </a:blip>
          <a:stretch>
            <a:fillRect/>
          </a:stretch>
        </p:blipFill>
        <p:spPr>
          <a:xfrm>
            <a:off x="2324250" y="191100"/>
            <a:ext cx="7543500" cy="3325100"/>
          </a:xfrm>
          <a:prstGeom prst="rect">
            <a:avLst/>
          </a:prstGeom>
          <a:noFill/>
          <a:ln>
            <a:noFill/>
          </a:ln>
        </p:spPr>
      </p:pic>
      <p:pic>
        <p:nvPicPr>
          <p:cNvPr id="173" name="Google Shape;173;p26"/>
          <p:cNvPicPr preferRelativeResize="0"/>
          <p:nvPr/>
        </p:nvPicPr>
        <p:blipFill>
          <a:blip r:embed="rId4">
            <a:alphaModFix/>
          </a:blip>
          <a:stretch>
            <a:fillRect/>
          </a:stretch>
        </p:blipFill>
        <p:spPr>
          <a:xfrm>
            <a:off x="3143100" y="3758850"/>
            <a:ext cx="5791200" cy="2867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sp>
        <p:nvSpPr>
          <p:cNvPr id="178" name="Google Shape;178;p27"/>
          <p:cNvSpPr txBox="1"/>
          <p:nvPr/>
        </p:nvSpPr>
        <p:spPr>
          <a:xfrm>
            <a:off x="951853" y="1251998"/>
            <a:ext cx="10741297" cy="954107"/>
          </a:xfrm>
          <a:prstGeom prst="rect">
            <a:avLst/>
          </a:prstGeom>
          <a:noFill/>
          <a:ln>
            <a:noFill/>
          </a:ln>
        </p:spPr>
        <p:txBody>
          <a:bodyPr anchorCtr="0" anchor="t" bIns="45700" lIns="91425" spcFirstLastPara="1" rIns="91425" wrap="square" tIns="45700">
            <a:noAutofit/>
          </a:bodyPr>
          <a:lstStyle/>
          <a:p>
            <a:pPr indent="-444500" lvl="0" marL="444500" marR="0" rtl="0" algn="l">
              <a:spcBef>
                <a:spcPts val="0"/>
              </a:spcBef>
              <a:spcAft>
                <a:spcPts val="0"/>
              </a:spcAft>
              <a:buNone/>
            </a:pPr>
            <a:r>
              <a:rPr b="1" lang="es-PE" sz="2800">
                <a:solidFill>
                  <a:schemeClr val="dk1"/>
                </a:solidFill>
                <a:latin typeface="Arial"/>
                <a:ea typeface="Arial"/>
                <a:cs typeface="Arial"/>
                <a:sym typeface="Arial"/>
              </a:rPr>
              <a:t>4. Desarrollar un trabajo de investigación que permita realizar el testeo de código fuente de programas en visual studio</a:t>
            </a:r>
            <a:endParaRPr b="1" sz="2800">
              <a:solidFill>
                <a:schemeClr val="dk1"/>
              </a:solidFill>
              <a:latin typeface="Arial"/>
              <a:ea typeface="Arial"/>
              <a:cs typeface="Arial"/>
              <a:sym typeface="Arial"/>
            </a:endParaRPr>
          </a:p>
        </p:txBody>
      </p:sp>
      <p:sp>
        <p:nvSpPr>
          <p:cNvPr id="179" name="Google Shape;179;p27"/>
          <p:cNvSpPr/>
          <p:nvPr/>
        </p:nvSpPr>
        <p:spPr>
          <a:xfrm>
            <a:off x="1457739" y="2977203"/>
            <a:ext cx="10018643" cy="193899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mo"/>
              <a:buChar char="a"/>
            </a:pPr>
            <a:r>
              <a:rPr lang="es-PE" sz="2400">
                <a:solidFill>
                  <a:schemeClr val="dk1"/>
                </a:solidFill>
                <a:latin typeface="Calibri"/>
                <a:ea typeface="Calibri"/>
                <a:cs typeface="Calibri"/>
                <a:sym typeface="Calibri"/>
              </a:rPr>
              <a:t>Se pide el proceso de instalación del programa de testeo si fuera necesario</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457200" lvl="0" marL="457200" marR="0" rtl="0" algn="l">
              <a:spcBef>
                <a:spcPts val="0"/>
              </a:spcBef>
              <a:spcAft>
                <a:spcPts val="0"/>
              </a:spcAft>
              <a:buClr>
                <a:schemeClr val="dk1"/>
              </a:buClr>
              <a:buSzPts val="2400"/>
              <a:buFont typeface="Arimo"/>
              <a:buChar char="a"/>
            </a:pPr>
            <a:r>
              <a:rPr lang="es-PE" sz="2400">
                <a:solidFill>
                  <a:schemeClr val="dk1"/>
                </a:solidFill>
                <a:latin typeface="Calibri"/>
                <a:ea typeface="Calibri"/>
                <a:cs typeface="Calibri"/>
                <a:sym typeface="Calibri"/>
              </a:rPr>
              <a:t>Configuración del programa si fuera necesario.</a:t>
            </a:r>
            <a:endParaRPr/>
          </a:p>
          <a:p>
            <a:pPr indent="0" lvl="0" marL="0" marR="0" rtl="0" algn="l">
              <a:spcBef>
                <a:spcPts val="0"/>
              </a:spcBef>
              <a:spcAft>
                <a:spcPts val="0"/>
              </a:spcAft>
              <a:buNone/>
            </a:pPr>
            <a:r>
              <a:rPr lang="es-PE" sz="2400">
                <a:solidFill>
                  <a:schemeClr val="dk1"/>
                </a:solidFill>
                <a:latin typeface="Arial"/>
                <a:ea typeface="Arial"/>
                <a:cs typeface="Arial"/>
                <a:sym typeface="Arial"/>
              </a:rPr>
              <a:t> </a:t>
            </a:r>
            <a:endParaRPr/>
          </a:p>
          <a:p>
            <a:pPr indent="-450850" lvl="0" marL="450850" marR="0" rtl="0" algn="l">
              <a:spcBef>
                <a:spcPts val="0"/>
              </a:spcBef>
              <a:spcAft>
                <a:spcPts val="0"/>
              </a:spcAft>
              <a:buNone/>
            </a:pPr>
            <a:r>
              <a:rPr lang="es-PE" sz="2400">
                <a:solidFill>
                  <a:schemeClr val="dk1"/>
                </a:solidFill>
                <a:latin typeface="Arial"/>
                <a:ea typeface="Arial"/>
                <a:cs typeface="Arial"/>
                <a:sym typeface="Arial"/>
              </a:rPr>
              <a:t> </a:t>
            </a:r>
            <a:r>
              <a:rPr lang="es-PE" sz="2400">
                <a:solidFill>
                  <a:schemeClr val="dk1"/>
                </a:solidFill>
                <a:latin typeface="Calibri"/>
                <a:ea typeface="Calibri"/>
                <a:cs typeface="Calibri"/>
                <a:sym typeface="Calibri"/>
              </a:rPr>
              <a:t>Demostrar con ejemplos el proceso de testeo.</a:t>
            </a:r>
            <a:endParaRPr b="1" sz="24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3" name="Shape 183"/>
        <p:cNvGrpSpPr/>
        <p:nvPr/>
      </p:nvGrpSpPr>
      <p:grpSpPr>
        <a:xfrm>
          <a:off x="0" y="0"/>
          <a:ext cx="0" cy="0"/>
          <a:chOff x="0" y="0"/>
          <a:chExt cx="0" cy="0"/>
        </a:xfrm>
      </p:grpSpPr>
      <p:sp>
        <p:nvSpPr>
          <p:cNvPr id="184" name="Google Shape;184;p28"/>
          <p:cNvSpPr txBox="1"/>
          <p:nvPr/>
        </p:nvSpPr>
        <p:spPr>
          <a:xfrm>
            <a:off x="1274128" y="1466848"/>
            <a:ext cx="107412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s-PE" sz="2800">
                <a:solidFill>
                  <a:schemeClr val="dk1"/>
                </a:solidFill>
              </a:rPr>
              <a:t>Pruebas Unitarias</a:t>
            </a:r>
            <a:endParaRPr b="1" sz="2800">
              <a:solidFill>
                <a:schemeClr val="dk1"/>
              </a:solidFill>
              <a:latin typeface="Arial"/>
              <a:ea typeface="Arial"/>
              <a:cs typeface="Arial"/>
              <a:sym typeface="Arial"/>
            </a:endParaRPr>
          </a:p>
        </p:txBody>
      </p:sp>
      <p:pic>
        <p:nvPicPr>
          <p:cNvPr id="185" name="Google Shape;185;p28"/>
          <p:cNvPicPr preferRelativeResize="0"/>
          <p:nvPr/>
        </p:nvPicPr>
        <p:blipFill>
          <a:blip r:embed="rId3">
            <a:alphaModFix/>
          </a:blip>
          <a:stretch>
            <a:fillRect/>
          </a:stretch>
        </p:blipFill>
        <p:spPr>
          <a:xfrm>
            <a:off x="5721150" y="101218"/>
            <a:ext cx="4286250" cy="3562350"/>
          </a:xfrm>
          <a:prstGeom prst="rect">
            <a:avLst/>
          </a:prstGeom>
          <a:noFill/>
          <a:ln>
            <a:noFill/>
          </a:ln>
        </p:spPr>
      </p:pic>
      <p:sp>
        <p:nvSpPr>
          <p:cNvPr id="186" name="Google Shape;186;p28"/>
          <p:cNvSpPr txBox="1"/>
          <p:nvPr/>
        </p:nvSpPr>
        <p:spPr>
          <a:xfrm>
            <a:off x="933925" y="3481510"/>
            <a:ext cx="10741200" cy="326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PE" sz="2400">
                <a:solidFill>
                  <a:srgbClr val="2A2A2A"/>
                </a:solidFill>
              </a:rPr>
              <a:t>Una ventaja importante que brinda el uso del modelo MVC en ASP.NET es que puede implementar fácilmente pruebas unitarias en la aplicación web.</a:t>
            </a:r>
            <a:endParaRPr sz="2400">
              <a:solidFill>
                <a:srgbClr val="2A2A2A"/>
              </a:solidFill>
            </a:endParaRPr>
          </a:p>
          <a:p>
            <a:pPr indent="0" lvl="0" marL="0" marR="0" rtl="0" algn="l">
              <a:spcBef>
                <a:spcPts val="0"/>
              </a:spcBef>
              <a:spcAft>
                <a:spcPts val="0"/>
              </a:spcAft>
              <a:buNone/>
            </a:pPr>
            <a:r>
              <a:t/>
            </a:r>
            <a:endParaRPr sz="2400">
              <a:solidFill>
                <a:srgbClr val="2A2A2A"/>
              </a:solidFill>
            </a:endParaRPr>
          </a:p>
          <a:p>
            <a:pPr indent="0" lvl="0" marL="0" rtl="0" algn="just">
              <a:lnSpc>
                <a:spcPct val="122727"/>
              </a:lnSpc>
              <a:spcBef>
                <a:spcPts val="0"/>
              </a:spcBef>
              <a:spcAft>
                <a:spcPts val="0"/>
              </a:spcAft>
              <a:buClr>
                <a:schemeClr val="dk1"/>
              </a:buClr>
              <a:buSzPts val="1100"/>
              <a:buFont typeface="Arial"/>
              <a:buNone/>
            </a:pPr>
            <a:r>
              <a:rPr lang="es-PE" sz="2400">
                <a:solidFill>
                  <a:srgbClr val="2A2A2A"/>
                </a:solidFill>
              </a:rPr>
              <a:t>Las pruebas unitarias de ASP.NET MVC llaman directamente a los métodos de los controladores MVC. Cuando una prueba unitaria llama a un método de acción de un controlador, puede validar que se devuelve la vista correcta (aunque no validará el código HTML) </a:t>
            </a:r>
            <a:endParaRPr sz="2400">
              <a:solidFill>
                <a:srgbClr val="2A2A2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Google Shape;191;p29"/>
          <p:cNvSpPr txBox="1"/>
          <p:nvPr/>
        </p:nvSpPr>
        <p:spPr>
          <a:xfrm>
            <a:off x="1274128" y="1466848"/>
            <a:ext cx="107412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s-PE" sz="2800">
                <a:solidFill>
                  <a:schemeClr val="dk1"/>
                </a:solidFill>
              </a:rPr>
              <a:t>Pruebas Unitarias</a:t>
            </a:r>
            <a:endParaRPr b="1" sz="2800">
              <a:solidFill>
                <a:schemeClr val="dk1"/>
              </a:solidFill>
              <a:latin typeface="Arial"/>
              <a:ea typeface="Arial"/>
              <a:cs typeface="Arial"/>
              <a:sym typeface="Arial"/>
            </a:endParaRPr>
          </a:p>
        </p:txBody>
      </p:sp>
      <p:pic>
        <p:nvPicPr>
          <p:cNvPr id="192" name="Google Shape;192;p29"/>
          <p:cNvPicPr preferRelativeResize="0"/>
          <p:nvPr/>
        </p:nvPicPr>
        <p:blipFill>
          <a:blip r:embed="rId3">
            <a:alphaModFix/>
          </a:blip>
          <a:stretch>
            <a:fillRect/>
          </a:stretch>
        </p:blipFill>
        <p:spPr>
          <a:xfrm>
            <a:off x="5721150" y="101218"/>
            <a:ext cx="4286250" cy="3562350"/>
          </a:xfrm>
          <a:prstGeom prst="rect">
            <a:avLst/>
          </a:prstGeom>
          <a:noFill/>
          <a:ln>
            <a:noFill/>
          </a:ln>
        </p:spPr>
      </p:pic>
      <p:sp>
        <p:nvSpPr>
          <p:cNvPr id="193" name="Google Shape;193;p29"/>
          <p:cNvSpPr txBox="1"/>
          <p:nvPr/>
        </p:nvSpPr>
        <p:spPr>
          <a:xfrm>
            <a:off x="933925" y="3481510"/>
            <a:ext cx="10741200" cy="3269100"/>
          </a:xfrm>
          <a:prstGeom prst="rect">
            <a:avLst/>
          </a:prstGeom>
          <a:noFill/>
          <a:ln>
            <a:noFill/>
          </a:ln>
        </p:spPr>
        <p:txBody>
          <a:bodyPr anchorCtr="0" anchor="t" bIns="45700" lIns="91425" spcFirstLastPara="1" rIns="91425" wrap="square" tIns="45700">
            <a:noAutofit/>
          </a:bodyPr>
          <a:lstStyle/>
          <a:p>
            <a:pPr indent="0" lvl="0" marL="0" rtl="0" algn="just">
              <a:lnSpc>
                <a:spcPct val="122727"/>
              </a:lnSpc>
              <a:spcBef>
                <a:spcPts val="0"/>
              </a:spcBef>
              <a:spcAft>
                <a:spcPts val="0"/>
              </a:spcAft>
              <a:buSzPts val="1100"/>
              <a:buNone/>
            </a:pPr>
            <a:r>
              <a:rPr lang="es-PE" sz="2400">
                <a:solidFill>
                  <a:srgbClr val="212121"/>
                </a:solidFill>
                <a:highlight>
                  <a:srgbClr val="FFFFFF"/>
                </a:highlight>
              </a:rPr>
              <a:t>En la vista general de cualquier aplicación de prueba unitaria, veremos que una prueba de unidad es un proceso de tres pasos. El primero es la prueba de configuración o la prueba de arreglos, la prueba de Act o la prueba de unidad de ejecución y Assert significa verificar el resultado de la prueba con los resultados esperados. </a:t>
            </a:r>
            <a:endParaRPr sz="2400">
              <a:solidFill>
                <a:srgbClr val="2A2A2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30"/>
          <p:cNvSpPr txBox="1"/>
          <p:nvPr>
            <p:ph type="ctrTitle"/>
          </p:nvPr>
        </p:nvSpPr>
        <p:spPr>
          <a:xfrm>
            <a:off x="1030650" y="710575"/>
            <a:ext cx="10130700" cy="8115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PE" sz="3600"/>
              <a:t>Creación Proyecto con Pruebas unitarias</a:t>
            </a:r>
            <a:endParaRPr sz="3600"/>
          </a:p>
        </p:txBody>
      </p:sp>
      <p:pic>
        <p:nvPicPr>
          <p:cNvPr id="200" name="Google Shape;200;p30"/>
          <p:cNvPicPr preferRelativeResize="0"/>
          <p:nvPr/>
        </p:nvPicPr>
        <p:blipFill>
          <a:blip r:embed="rId3">
            <a:alphaModFix/>
          </a:blip>
          <a:stretch>
            <a:fillRect/>
          </a:stretch>
        </p:blipFill>
        <p:spPr>
          <a:xfrm>
            <a:off x="3420023" y="1987600"/>
            <a:ext cx="5163825" cy="3355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Google Shape;206;p31"/>
          <p:cNvSpPr txBox="1"/>
          <p:nvPr>
            <p:ph idx="1" type="subTitle"/>
          </p:nvPr>
        </p:nvSpPr>
        <p:spPr>
          <a:xfrm>
            <a:off x="1524000" y="826613"/>
            <a:ext cx="9144000" cy="165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PE" sz="3600"/>
              <a:t>Creación de pruebas unitarias en proyecto ya empezado</a:t>
            </a:r>
            <a:endParaRPr/>
          </a:p>
        </p:txBody>
      </p:sp>
      <p:pic>
        <p:nvPicPr>
          <p:cNvPr id="207" name="Google Shape;207;p31"/>
          <p:cNvPicPr preferRelativeResize="0"/>
          <p:nvPr/>
        </p:nvPicPr>
        <p:blipFill>
          <a:blip r:embed="rId3">
            <a:alphaModFix/>
          </a:blip>
          <a:stretch>
            <a:fillRect/>
          </a:stretch>
        </p:blipFill>
        <p:spPr>
          <a:xfrm>
            <a:off x="1190950" y="2482313"/>
            <a:ext cx="4810125" cy="2943225"/>
          </a:xfrm>
          <a:prstGeom prst="rect">
            <a:avLst/>
          </a:prstGeom>
          <a:noFill/>
          <a:ln>
            <a:noFill/>
          </a:ln>
        </p:spPr>
      </p:pic>
      <p:pic>
        <p:nvPicPr>
          <p:cNvPr id="208" name="Google Shape;208;p31"/>
          <p:cNvPicPr preferRelativeResize="0"/>
          <p:nvPr/>
        </p:nvPicPr>
        <p:blipFill>
          <a:blip r:embed="rId4">
            <a:alphaModFix/>
          </a:blip>
          <a:stretch>
            <a:fillRect/>
          </a:stretch>
        </p:blipFill>
        <p:spPr>
          <a:xfrm>
            <a:off x="6368350" y="2740276"/>
            <a:ext cx="4966150" cy="1060725"/>
          </a:xfrm>
          <a:prstGeom prst="rect">
            <a:avLst/>
          </a:prstGeom>
          <a:noFill/>
          <a:ln>
            <a:noFill/>
          </a:ln>
        </p:spPr>
      </p:pic>
      <p:pic>
        <p:nvPicPr>
          <p:cNvPr id="209" name="Google Shape;209;p31"/>
          <p:cNvPicPr preferRelativeResize="0"/>
          <p:nvPr/>
        </p:nvPicPr>
        <p:blipFill>
          <a:blip r:embed="rId5">
            <a:alphaModFix/>
          </a:blip>
          <a:stretch>
            <a:fillRect/>
          </a:stretch>
        </p:blipFill>
        <p:spPr>
          <a:xfrm>
            <a:off x="6446363" y="3987328"/>
            <a:ext cx="4810125" cy="117918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4" name="Shape 214"/>
        <p:cNvGrpSpPr/>
        <p:nvPr/>
      </p:nvGrpSpPr>
      <p:grpSpPr>
        <a:xfrm>
          <a:off x="0" y="0"/>
          <a:ext cx="0" cy="0"/>
          <a:chOff x="0" y="0"/>
          <a:chExt cx="0" cy="0"/>
        </a:xfrm>
      </p:grpSpPr>
      <p:sp>
        <p:nvSpPr>
          <p:cNvPr id="215" name="Google Shape;215;p32"/>
          <p:cNvSpPr txBox="1"/>
          <p:nvPr>
            <p:ph idx="1" type="subTitle"/>
          </p:nvPr>
        </p:nvSpPr>
        <p:spPr>
          <a:xfrm>
            <a:off x="933100" y="844544"/>
            <a:ext cx="9144000" cy="820800"/>
          </a:xfrm>
          <a:prstGeom prst="rect">
            <a:avLst/>
          </a:prstGeom>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b="1" lang="es-PE" sz="1800">
                <a:solidFill>
                  <a:srgbClr val="404040"/>
                </a:solidFill>
                <a:highlight>
                  <a:srgbClr val="FFFFFF"/>
                </a:highlight>
                <a:latin typeface="Arial"/>
                <a:ea typeface="Arial"/>
                <a:cs typeface="Arial"/>
                <a:sym typeface="Arial"/>
              </a:rPr>
              <a:t>CASO: Pruebas Unitarias en proyecto por defecto</a:t>
            </a:r>
            <a:endParaRPr sz="1800"/>
          </a:p>
        </p:txBody>
      </p:sp>
      <p:pic>
        <p:nvPicPr>
          <p:cNvPr id="216" name="Google Shape;216;p32"/>
          <p:cNvPicPr preferRelativeResize="0"/>
          <p:nvPr/>
        </p:nvPicPr>
        <p:blipFill>
          <a:blip r:embed="rId3">
            <a:alphaModFix/>
          </a:blip>
          <a:stretch>
            <a:fillRect/>
          </a:stretch>
        </p:blipFill>
        <p:spPr>
          <a:xfrm>
            <a:off x="1656500" y="1617513"/>
            <a:ext cx="4359900" cy="3856450"/>
          </a:xfrm>
          <a:prstGeom prst="rect">
            <a:avLst/>
          </a:prstGeom>
          <a:noFill/>
          <a:ln>
            <a:noFill/>
          </a:ln>
        </p:spPr>
      </p:pic>
      <p:pic>
        <p:nvPicPr>
          <p:cNvPr id="217" name="Google Shape;217;p32"/>
          <p:cNvPicPr preferRelativeResize="0"/>
          <p:nvPr/>
        </p:nvPicPr>
        <p:blipFill>
          <a:blip r:embed="rId4">
            <a:alphaModFix/>
          </a:blip>
          <a:stretch>
            <a:fillRect/>
          </a:stretch>
        </p:blipFill>
        <p:spPr>
          <a:xfrm>
            <a:off x="6508175" y="1669263"/>
            <a:ext cx="3805675" cy="3752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2" name="Shape 222"/>
        <p:cNvGrpSpPr/>
        <p:nvPr/>
      </p:nvGrpSpPr>
      <p:grpSpPr>
        <a:xfrm>
          <a:off x="0" y="0"/>
          <a:ext cx="0" cy="0"/>
          <a:chOff x="0" y="0"/>
          <a:chExt cx="0" cy="0"/>
        </a:xfrm>
      </p:grpSpPr>
      <p:sp>
        <p:nvSpPr>
          <p:cNvPr id="223" name="Google Shape;223;p33"/>
          <p:cNvSpPr txBox="1"/>
          <p:nvPr>
            <p:ph idx="1" type="subTitle"/>
          </p:nvPr>
        </p:nvSpPr>
        <p:spPr>
          <a:xfrm>
            <a:off x="933100" y="844544"/>
            <a:ext cx="9144000" cy="820800"/>
          </a:xfrm>
          <a:prstGeom prst="rect">
            <a:avLst/>
          </a:prstGeom>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b="1" lang="es-PE" sz="1800">
                <a:solidFill>
                  <a:srgbClr val="404040"/>
                </a:solidFill>
                <a:highlight>
                  <a:srgbClr val="FFFFFF"/>
                </a:highlight>
                <a:latin typeface="Arial"/>
                <a:ea typeface="Arial"/>
                <a:cs typeface="Arial"/>
                <a:sym typeface="Arial"/>
              </a:rPr>
              <a:t>CASO: Pruebas Unitarias en cálculos Matemáticos</a:t>
            </a:r>
            <a:endParaRPr sz="1800"/>
          </a:p>
        </p:txBody>
      </p:sp>
      <p:pic>
        <p:nvPicPr>
          <p:cNvPr id="224" name="Google Shape;224;p33"/>
          <p:cNvPicPr preferRelativeResize="0"/>
          <p:nvPr/>
        </p:nvPicPr>
        <p:blipFill rotWithShape="1">
          <a:blip r:embed="rId3">
            <a:alphaModFix/>
          </a:blip>
          <a:srcRect b="7321" l="0" r="0" t="0"/>
          <a:stretch/>
        </p:blipFill>
        <p:spPr>
          <a:xfrm>
            <a:off x="1531150" y="1556250"/>
            <a:ext cx="4575575" cy="4159598"/>
          </a:xfrm>
          <a:prstGeom prst="rect">
            <a:avLst/>
          </a:prstGeom>
          <a:noFill/>
          <a:ln>
            <a:noFill/>
          </a:ln>
        </p:spPr>
      </p:pic>
      <p:pic>
        <p:nvPicPr>
          <p:cNvPr id="225" name="Google Shape;225;p33"/>
          <p:cNvPicPr preferRelativeResize="0"/>
          <p:nvPr/>
        </p:nvPicPr>
        <p:blipFill>
          <a:blip r:embed="rId4">
            <a:alphaModFix/>
          </a:blip>
          <a:stretch>
            <a:fillRect/>
          </a:stretch>
        </p:blipFill>
        <p:spPr>
          <a:xfrm>
            <a:off x="6984125" y="1178701"/>
            <a:ext cx="4000875" cy="3115435"/>
          </a:xfrm>
          <a:prstGeom prst="rect">
            <a:avLst/>
          </a:prstGeom>
          <a:noFill/>
          <a:ln>
            <a:noFill/>
          </a:ln>
        </p:spPr>
      </p:pic>
      <p:pic>
        <p:nvPicPr>
          <p:cNvPr id="226" name="Google Shape;226;p33"/>
          <p:cNvPicPr preferRelativeResize="0"/>
          <p:nvPr/>
        </p:nvPicPr>
        <p:blipFill>
          <a:blip r:embed="rId5">
            <a:alphaModFix/>
          </a:blip>
          <a:stretch>
            <a:fillRect/>
          </a:stretch>
        </p:blipFill>
        <p:spPr>
          <a:xfrm>
            <a:off x="6984125" y="4294126"/>
            <a:ext cx="4000875" cy="1799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Google Shape;232;p34"/>
          <p:cNvSpPr txBox="1"/>
          <p:nvPr>
            <p:ph idx="1" type="subTitle"/>
          </p:nvPr>
        </p:nvSpPr>
        <p:spPr>
          <a:xfrm>
            <a:off x="564000" y="361100"/>
            <a:ext cx="11064000" cy="2235300"/>
          </a:xfrm>
          <a:prstGeom prst="rect">
            <a:avLst/>
          </a:prstGeom>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b="1" lang="es-PE">
                <a:solidFill>
                  <a:srgbClr val="404040"/>
                </a:solidFill>
                <a:highlight>
                  <a:srgbClr val="FFFFFF"/>
                </a:highlight>
                <a:latin typeface="Arial"/>
                <a:ea typeface="Arial"/>
                <a:cs typeface="Arial"/>
                <a:sym typeface="Arial"/>
              </a:rPr>
              <a:t>CASO: </a:t>
            </a:r>
            <a:r>
              <a:rPr b="1" lang="es-PE">
                <a:solidFill>
                  <a:srgbClr val="404040"/>
                </a:solidFill>
                <a:highlight>
                  <a:srgbClr val="FFFFFF"/>
                </a:highlight>
                <a:latin typeface="Arial"/>
                <a:ea typeface="Arial"/>
                <a:cs typeface="Arial"/>
                <a:sym typeface="Arial"/>
              </a:rPr>
              <a:t>Realización de pruebas unitarias sin método implementado</a:t>
            </a:r>
            <a:endParaRPr b="1">
              <a:solidFill>
                <a:srgbClr val="404040"/>
              </a:solidFill>
              <a:highlight>
                <a:srgbClr val="FFFFFF"/>
              </a:highlight>
              <a:latin typeface="Arial"/>
              <a:ea typeface="Arial"/>
              <a:cs typeface="Arial"/>
              <a:sym typeface="Arial"/>
            </a:endParaRPr>
          </a:p>
          <a:p>
            <a:pPr indent="0" lvl="0" marL="0" rtl="0" algn="just">
              <a:lnSpc>
                <a:spcPct val="100000"/>
              </a:lnSpc>
              <a:spcBef>
                <a:spcPts val="0"/>
              </a:spcBef>
              <a:spcAft>
                <a:spcPts val="0"/>
              </a:spcAft>
              <a:buNone/>
            </a:pPr>
            <a:r>
              <a:rPr lang="es-PE" sz="1600">
                <a:solidFill>
                  <a:srgbClr val="404040"/>
                </a:solidFill>
                <a:highlight>
                  <a:srgbClr val="FFFFFF"/>
                </a:highlight>
                <a:latin typeface="Arial"/>
                <a:ea typeface="Arial"/>
                <a:cs typeface="Arial"/>
                <a:sym typeface="Arial"/>
              </a:rPr>
              <a:t>Pensemos que una aplicación se está desarrollando y muchos desarrolladores están trabajando en este proyecto y cada uno se asigna para desarrollar una función. </a:t>
            </a:r>
            <a:endParaRPr sz="1600">
              <a:solidFill>
                <a:srgbClr val="404040"/>
              </a:solidFill>
              <a:highlight>
                <a:srgbClr val="FFFFFF"/>
              </a:highlight>
              <a:latin typeface="Arial"/>
              <a:ea typeface="Arial"/>
              <a:cs typeface="Arial"/>
              <a:sym typeface="Arial"/>
            </a:endParaRPr>
          </a:p>
          <a:p>
            <a:pPr indent="0" lvl="0" marL="0" rtl="0" algn="just">
              <a:lnSpc>
                <a:spcPct val="100000"/>
              </a:lnSpc>
              <a:spcBef>
                <a:spcPts val="1800"/>
              </a:spcBef>
              <a:spcAft>
                <a:spcPts val="0"/>
              </a:spcAft>
              <a:buNone/>
            </a:pPr>
            <a:r>
              <a:rPr lang="es-PE" sz="1600">
                <a:solidFill>
                  <a:srgbClr val="404040"/>
                </a:solidFill>
                <a:highlight>
                  <a:srgbClr val="FFFFFF"/>
                </a:highlight>
                <a:latin typeface="Arial"/>
                <a:ea typeface="Arial"/>
                <a:cs typeface="Arial"/>
                <a:sym typeface="Arial"/>
              </a:rPr>
              <a:t>Y he completado mi función, pero mi compañero no, ya que tiene un poco de carga de trabajo. Ahora, cuando complete mi tarea, quería probar mi función, pero para eso necesito depender de la función de comprobación eso aún no está desarrollado.</a:t>
            </a:r>
            <a:endParaRPr sz="1600">
              <a:solidFill>
                <a:srgbClr val="404040"/>
              </a:solidFill>
              <a:highlight>
                <a:srgbClr val="FFFFFF"/>
              </a:highlight>
              <a:latin typeface="Arial"/>
              <a:ea typeface="Arial"/>
              <a:cs typeface="Arial"/>
              <a:sym typeface="Arial"/>
            </a:endParaRPr>
          </a:p>
          <a:p>
            <a:pPr indent="0" lvl="0" marL="0" rtl="0" algn="just">
              <a:lnSpc>
                <a:spcPct val="100000"/>
              </a:lnSpc>
              <a:spcBef>
                <a:spcPts val="1800"/>
              </a:spcBef>
              <a:spcAft>
                <a:spcPts val="1800"/>
              </a:spcAft>
              <a:buNone/>
            </a:pPr>
            <a:r>
              <a:rPr lang="es-PE" sz="1600">
                <a:solidFill>
                  <a:srgbClr val="404040"/>
                </a:solidFill>
                <a:highlight>
                  <a:srgbClr val="FFFFFF"/>
                </a:highlight>
                <a:latin typeface="Arial"/>
                <a:ea typeface="Arial"/>
                <a:cs typeface="Arial"/>
                <a:sym typeface="Arial"/>
              </a:rPr>
              <a:t>Entonces, ¿cómo voy a hacer eso? Necesito crear un objeto simulado que omita la función de comprobación. El punto para hacer aquí es que hay muchos marcos mooking para implementar el objeto simulado</a:t>
            </a:r>
            <a:endParaRPr sz="1600">
              <a:solidFill>
                <a:srgbClr val="404040"/>
              </a:solidFill>
              <a:highlight>
                <a:srgbClr val="FFFFFF"/>
              </a:highlight>
              <a:latin typeface="Arial"/>
              <a:ea typeface="Arial"/>
              <a:cs typeface="Arial"/>
              <a:sym typeface="Arial"/>
            </a:endParaRPr>
          </a:p>
        </p:txBody>
      </p:sp>
      <p:pic>
        <p:nvPicPr>
          <p:cNvPr id="233" name="Google Shape;233;p34"/>
          <p:cNvPicPr preferRelativeResize="0"/>
          <p:nvPr/>
        </p:nvPicPr>
        <p:blipFill>
          <a:blip r:embed="rId3">
            <a:alphaModFix/>
          </a:blip>
          <a:stretch>
            <a:fillRect/>
          </a:stretch>
        </p:blipFill>
        <p:spPr>
          <a:xfrm>
            <a:off x="868625" y="3676088"/>
            <a:ext cx="4773515" cy="2235300"/>
          </a:xfrm>
          <a:prstGeom prst="rect">
            <a:avLst/>
          </a:prstGeom>
          <a:noFill/>
          <a:ln>
            <a:noFill/>
          </a:ln>
        </p:spPr>
      </p:pic>
      <p:pic>
        <p:nvPicPr>
          <p:cNvPr id="234" name="Google Shape;234;p34"/>
          <p:cNvPicPr preferRelativeResize="0"/>
          <p:nvPr/>
        </p:nvPicPr>
        <p:blipFill>
          <a:blip r:embed="rId4">
            <a:alphaModFix/>
          </a:blip>
          <a:stretch>
            <a:fillRect/>
          </a:stretch>
        </p:blipFill>
        <p:spPr>
          <a:xfrm>
            <a:off x="6057450" y="2980200"/>
            <a:ext cx="5570554" cy="3627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9" name="Shape 239"/>
        <p:cNvGrpSpPr/>
        <p:nvPr/>
      </p:nvGrpSpPr>
      <p:grpSpPr>
        <a:xfrm>
          <a:off x="0" y="0"/>
          <a:ext cx="0" cy="0"/>
          <a:chOff x="0" y="0"/>
          <a:chExt cx="0" cy="0"/>
        </a:xfrm>
      </p:grpSpPr>
      <p:pic>
        <p:nvPicPr>
          <p:cNvPr id="240" name="Google Shape;240;p35"/>
          <p:cNvPicPr preferRelativeResize="0"/>
          <p:nvPr/>
        </p:nvPicPr>
        <p:blipFill rotWithShape="1">
          <a:blip r:embed="rId3">
            <a:alphaModFix/>
          </a:blip>
          <a:srcRect b="0" l="18874" r="29185" t="0"/>
          <a:stretch/>
        </p:blipFill>
        <p:spPr>
          <a:xfrm>
            <a:off x="1110200" y="1498175"/>
            <a:ext cx="4894074" cy="4610575"/>
          </a:xfrm>
          <a:prstGeom prst="rect">
            <a:avLst/>
          </a:prstGeom>
          <a:noFill/>
          <a:ln>
            <a:noFill/>
          </a:ln>
        </p:spPr>
      </p:pic>
      <p:pic>
        <p:nvPicPr>
          <p:cNvPr id="241" name="Google Shape;241;p35"/>
          <p:cNvPicPr preferRelativeResize="0"/>
          <p:nvPr/>
        </p:nvPicPr>
        <p:blipFill>
          <a:blip r:embed="rId4">
            <a:alphaModFix/>
          </a:blip>
          <a:stretch>
            <a:fillRect/>
          </a:stretch>
        </p:blipFill>
        <p:spPr>
          <a:xfrm>
            <a:off x="6133000" y="1662125"/>
            <a:ext cx="5416325" cy="4282675"/>
          </a:xfrm>
          <a:prstGeom prst="rect">
            <a:avLst/>
          </a:prstGeom>
          <a:noFill/>
          <a:ln>
            <a:noFill/>
          </a:ln>
        </p:spPr>
      </p:pic>
      <p:sp>
        <p:nvSpPr>
          <p:cNvPr id="242" name="Google Shape;242;p35"/>
          <p:cNvSpPr txBox="1"/>
          <p:nvPr/>
        </p:nvSpPr>
        <p:spPr>
          <a:xfrm>
            <a:off x="786900" y="337025"/>
            <a:ext cx="10618200" cy="1325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es-PE" sz="2400">
                <a:solidFill>
                  <a:srgbClr val="404040"/>
                </a:solidFill>
                <a:highlight>
                  <a:srgbClr val="FFFFFF"/>
                </a:highlight>
              </a:rPr>
              <a:t>CASO: </a:t>
            </a:r>
            <a:r>
              <a:rPr b="1" lang="es-PE" sz="2400">
                <a:solidFill>
                  <a:srgbClr val="404040"/>
                </a:solidFill>
                <a:highlight>
                  <a:srgbClr val="FFFFFF"/>
                </a:highlight>
              </a:rPr>
              <a:t>Realización de pruebas unitarias sin método implementado</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6" name="Shape 246"/>
        <p:cNvGrpSpPr/>
        <p:nvPr/>
      </p:nvGrpSpPr>
      <p:grpSpPr>
        <a:xfrm>
          <a:off x="0" y="0"/>
          <a:ext cx="0" cy="0"/>
          <a:chOff x="0" y="0"/>
          <a:chExt cx="0" cy="0"/>
        </a:xfrm>
      </p:grpSpPr>
      <p:sp>
        <p:nvSpPr>
          <p:cNvPr id="247" name="Google Shape;247;p36"/>
          <p:cNvSpPr txBox="1"/>
          <p:nvPr/>
        </p:nvSpPr>
        <p:spPr>
          <a:xfrm>
            <a:off x="8828403" y="5493507"/>
            <a:ext cx="2843646" cy="7694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s-PE" sz="4400">
                <a:solidFill>
                  <a:schemeClr val="dk1"/>
                </a:solidFill>
                <a:latin typeface="Arial"/>
                <a:ea typeface="Arial"/>
                <a:cs typeface="Arial"/>
                <a:sym typeface="Arial"/>
              </a:rPr>
              <a:t>Gracias…</a:t>
            </a:r>
            <a:endParaRPr b="1" sz="44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